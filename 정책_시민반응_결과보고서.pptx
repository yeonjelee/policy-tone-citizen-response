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물가(긴축)</c:v>
                </c:pt>
              </c:strCache>
            </c:strRef>
          </c:tx>
          <c:spPr>
            <a:solidFill>
              <a:srgbClr val="1F4E79"/>
            </a:solidFill>
            <a:ln w="28575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-0.17</c:v>
                </c:pt>
                <c:pt idx="1">
                  <c:v>0.15</c:v>
                </c:pt>
                <c:pt idx="2">
                  <c:v>0.23</c:v>
                </c:pt>
                <c:pt idx="3">
                  <c:v>-0.2</c:v>
                </c:pt>
                <c:pt idx="4">
                  <c:v>-0.26</c:v>
                </c:pt>
                <c:pt idx="5">
                  <c:v>0.26</c:v>
                </c:pt>
                <c:pt idx="6">
                  <c:v>0.38</c:v>
                </c:pt>
                <c:pt idx="7">
                  <c:v>0.15</c:v>
                </c:pt>
                <c:pt idx="8">
                  <c:v>0.02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성장(긴축)</c:v>
                </c:pt>
              </c:strCache>
            </c:strRef>
          </c:tx>
          <c:spPr>
            <a:solidFill>
              <a:srgbClr val="2C7A7B"/>
            </a:solidFill>
            <a:ln w="28575" cap="flat">
              <a:solidFill>
                <a:srgbClr val="2C7A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7B"/>
              </a:solidFill>
              <a:ln w="9525" cap="flat">
                <a:solidFill>
                  <a:srgbClr val="2C7A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-0.36</c:v>
                </c:pt>
                <c:pt idx="1">
                  <c:v>0.07</c:v>
                </c:pt>
                <c:pt idx="2">
                  <c:v>0.1</c:v>
                </c:pt>
                <c:pt idx="3">
                  <c:v>-0.31</c:v>
                </c:pt>
                <c:pt idx="4">
                  <c:v>-0.4</c:v>
                </c:pt>
                <c:pt idx="5">
                  <c:v>0.05</c:v>
                </c:pt>
                <c:pt idx="6">
                  <c:v>0.08</c:v>
                </c:pt>
                <c:pt idx="7">
                  <c:v>-0.09</c:v>
                </c:pt>
                <c:pt idx="8">
                  <c:v>-0.09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금융안정</c:v>
                </c:pt>
              </c:strCache>
            </c:strRef>
          </c:tx>
          <c:spPr>
            <a:solidFill>
              <a:srgbClr val="B7791F"/>
            </a:solidFill>
            <a:ln w="28575" cap="flat">
              <a:solidFill>
                <a:srgbClr val="B779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791F"/>
              </a:solidFill>
              <a:ln w="9525" cap="flat">
                <a:solidFill>
                  <a:srgbClr val="B779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-0.4</c:v>
                </c:pt>
                <c:pt idx="1">
                  <c:v>-0.23</c:v>
                </c:pt>
                <c:pt idx="2">
                  <c:v>-0.26</c:v>
                </c:pt>
                <c:pt idx="3">
                  <c:v>-0.36</c:v>
                </c:pt>
                <c:pt idx="4">
                  <c:v>-0.5</c:v>
                </c:pt>
                <c:pt idx="5">
                  <c:v>-0.21</c:v>
                </c:pt>
                <c:pt idx="6">
                  <c:v>-0.12</c:v>
                </c:pt>
                <c:pt idx="7">
                  <c:v>-0.18</c:v>
                </c:pt>
                <c:pt idx="8">
                  <c:v>-0.33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재정(긴축)</c:v>
                </c:pt>
              </c:strCache>
            </c:strRef>
          </c:tx>
          <c:spPr>
            <a:solidFill>
              <a:srgbClr val="C0392B"/>
            </a:solidFill>
            <a:ln w="28575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0.23</c:v>
                </c:pt>
                <c:pt idx="1">
                  <c:v>-0.48</c:v>
                </c:pt>
                <c:pt idx="2">
                  <c:v>-0.77</c:v>
                </c:pt>
                <c:pt idx="3">
                  <c:v>-0.72</c:v>
                </c:pt>
                <c:pt idx="4">
                  <c:v>-0.72</c:v>
                </c:pt>
                <c:pt idx="5">
                  <c:v>-0.73</c:v>
                </c:pt>
                <c:pt idx="6">
                  <c:v>-0.18</c:v>
                </c:pt>
                <c:pt idx="7">
                  <c:v>0.08</c:v>
                </c:pt>
                <c:pt idx="8">
                  <c:v>-0.09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1"/>
        </c:scaling>
        <c:delete val="0"/>
        <c:axPos val="l"/>
        <c:majorGridlines>
          <c:spPr>
            <a:ln w="6350" cap="flat">
              <a:solidFill>
                <a:srgbClr val="E1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예금</c:v>
                </c:pt>
              </c:strCache>
            </c:strRef>
          </c:tx>
          <c:spPr>
            <a:solidFill>
              <a:srgbClr val="1F4E79"/>
            </a:solidFill>
            <a:ln w="28575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-10</c:v>
                  </c:pt>
                  <c:pt idx="1">
                    <c:v>-7</c:v>
                  </c:pt>
                  <c:pt idx="2">
                    <c:v>-3</c:v>
                  </c:pt>
                  <c:pt idx="3">
                    <c:v>0</c:v>
                  </c:pt>
                  <c:pt idx="4">
                    <c:v>+3</c:v>
                  </c:pt>
                  <c:pt idx="5">
                    <c:v>+7</c:v>
                  </c:pt>
                  <c:pt idx="6">
                    <c:v>+14</c:v>
                  </c:pt>
                  <c:pt idx="7">
                    <c:v>+21</c:v>
                  </c:pt>
                  <c:pt idx="8">
                    <c:v>+28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108</c:v>
                </c:pt>
                <c:pt idx="1">
                  <c:v>95</c:v>
                </c:pt>
                <c:pt idx="2">
                  <c:v>101</c:v>
                </c:pt>
                <c:pt idx="3">
                  <c:v>108</c:v>
                </c:pt>
                <c:pt idx="4">
                  <c:v>117</c:v>
                </c:pt>
                <c:pt idx="5">
                  <c:v>113</c:v>
                </c:pt>
                <c:pt idx="6">
                  <c:v>107</c:v>
                </c:pt>
                <c:pt idx="7">
                  <c:v>101</c:v>
                </c:pt>
                <c:pt idx="8">
                  <c:v>102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대출</c:v>
                </c:pt>
              </c:strCache>
            </c:strRef>
          </c:tx>
          <c:spPr>
            <a:solidFill>
              <a:srgbClr val="2C7A7B"/>
            </a:solidFill>
            <a:ln w="28575" cap="flat">
              <a:solidFill>
                <a:srgbClr val="2C7A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7B"/>
              </a:solidFill>
              <a:ln w="9525" cap="flat">
                <a:solidFill>
                  <a:srgbClr val="2C7A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-10</c:v>
                  </c:pt>
                  <c:pt idx="1">
                    <c:v>-7</c:v>
                  </c:pt>
                  <c:pt idx="2">
                    <c:v>-3</c:v>
                  </c:pt>
                  <c:pt idx="3">
                    <c:v>0</c:v>
                  </c:pt>
                  <c:pt idx="4">
                    <c:v>+3</c:v>
                  </c:pt>
                  <c:pt idx="5">
                    <c:v>+7</c:v>
                  </c:pt>
                  <c:pt idx="6">
                    <c:v>+14</c:v>
                  </c:pt>
                  <c:pt idx="7">
                    <c:v>+21</c:v>
                  </c:pt>
                  <c:pt idx="8">
                    <c:v>+28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105</c:v>
                </c:pt>
                <c:pt idx="1">
                  <c:v>96</c:v>
                </c:pt>
                <c:pt idx="2">
                  <c:v>100</c:v>
                </c:pt>
                <c:pt idx="3">
                  <c:v>102</c:v>
                </c:pt>
                <c:pt idx="4">
                  <c:v>103</c:v>
                </c:pt>
                <c:pt idx="5">
                  <c:v>98</c:v>
                </c:pt>
                <c:pt idx="6">
                  <c:v>96</c:v>
                </c:pt>
                <c:pt idx="7">
                  <c:v>97</c:v>
                </c:pt>
                <c:pt idx="8">
                  <c:v>98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물가</c:v>
                </c:pt>
              </c:strCache>
            </c:strRef>
          </c:tx>
          <c:spPr>
            <a:solidFill>
              <a:srgbClr val="C0392B"/>
            </a:solidFill>
            <a:ln w="28575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-10</c:v>
                  </c:pt>
                  <c:pt idx="1">
                    <c:v>-7</c:v>
                  </c:pt>
                  <c:pt idx="2">
                    <c:v>-3</c:v>
                  </c:pt>
                  <c:pt idx="3">
                    <c:v>0</c:v>
                  </c:pt>
                  <c:pt idx="4">
                    <c:v>+3</c:v>
                  </c:pt>
                  <c:pt idx="5">
                    <c:v>+7</c:v>
                  </c:pt>
                  <c:pt idx="6">
                    <c:v>+14</c:v>
                  </c:pt>
                  <c:pt idx="7">
                    <c:v>+21</c:v>
                  </c:pt>
                  <c:pt idx="8">
                    <c:v>+28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105</c:v>
                </c:pt>
                <c:pt idx="1">
                  <c:v>98</c:v>
                </c:pt>
                <c:pt idx="2">
                  <c:v>99</c:v>
                </c:pt>
                <c:pt idx="3">
                  <c:v>103</c:v>
                </c:pt>
                <c:pt idx="4">
                  <c:v>107</c:v>
                </c:pt>
                <c:pt idx="5">
                  <c:v>104</c:v>
                </c:pt>
                <c:pt idx="6">
                  <c:v>99</c:v>
                </c:pt>
                <c:pt idx="7">
                  <c:v>104</c:v>
                </c:pt>
                <c:pt idx="8">
                  <c:v>112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환율</c:v>
                </c:pt>
              </c:strCache>
            </c:strRef>
          </c:tx>
          <c:spPr>
            <a:solidFill>
              <a:srgbClr val="B7791F"/>
            </a:solidFill>
            <a:ln w="28575" cap="flat">
              <a:solidFill>
                <a:srgbClr val="B779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791F"/>
              </a:solidFill>
              <a:ln w="9525" cap="flat">
                <a:solidFill>
                  <a:srgbClr val="B779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-10</c:v>
                  </c:pt>
                  <c:pt idx="1">
                    <c:v>-7</c:v>
                  </c:pt>
                  <c:pt idx="2">
                    <c:v>-3</c:v>
                  </c:pt>
                  <c:pt idx="3">
                    <c:v>0</c:v>
                  </c:pt>
                  <c:pt idx="4">
                    <c:v>+3</c:v>
                  </c:pt>
                  <c:pt idx="5">
                    <c:v>+7</c:v>
                  </c:pt>
                  <c:pt idx="6">
                    <c:v>+14</c:v>
                  </c:pt>
                  <c:pt idx="7">
                    <c:v>+21</c:v>
                  </c:pt>
                  <c:pt idx="8">
                    <c:v>+28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111</c:v>
                </c:pt>
                <c:pt idx="1">
                  <c:v>94</c:v>
                </c:pt>
                <c:pt idx="2">
                  <c:v>97</c:v>
                </c:pt>
                <c:pt idx="3">
                  <c:v>98</c:v>
                </c:pt>
                <c:pt idx="4">
                  <c:v>99</c:v>
                </c:pt>
                <c:pt idx="5">
                  <c:v>98</c:v>
                </c:pt>
                <c:pt idx="6">
                  <c:v>97</c:v>
                </c:pt>
                <c:pt idx="7">
                  <c:v>100</c:v>
                </c:pt>
                <c:pt idx="8">
                  <c:v>108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50" b="0" i="0" u="none" strike="noStrike">
                    <a:solidFill>
                      <a:srgbClr val="000000"/>
                    </a:solidFill>
                    <a:latin typeface="Calibri"/>
                  </a:rPr>
                  <a:t>사건일(정책 결정일=0) 기준 일수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90"/>
        </c:scaling>
        <c:delete val="0"/>
        <c:axPos val="l"/>
        <c:majorGridlines>
          <c:spPr>
            <a:ln w="6350" cap="flat">
              <a:solidFill>
                <a:srgbClr val="E1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주택가격</c:v>
                </c:pt>
              </c:strCache>
            </c:strRef>
          </c:tx>
          <c:spPr>
            <a:solidFill>
              <a:srgbClr val="C0392B"/>
            </a:solidFill>
            <a:ln w="28575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0.28</c:v>
                </c:pt>
                <c:pt idx="1">
                  <c:v>0.14</c:v>
                </c:pt>
                <c:pt idx="2">
                  <c:v>-0.06</c:v>
                </c:pt>
                <c:pt idx="3">
                  <c:v>-0.26</c:v>
                </c:pt>
                <c:pt idx="4">
                  <c:v>-0.47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가계대출</c:v>
                </c:pt>
              </c:strCache>
            </c:strRef>
          </c:tx>
          <c:spPr>
            <a:solidFill>
              <a:srgbClr val="1F4E79"/>
            </a:solidFill>
            <a:ln w="28575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-0.04</c:v>
                </c:pt>
                <c:pt idx="1">
                  <c:v>-0.13</c:v>
                </c:pt>
                <c:pt idx="2">
                  <c:v>-0.27</c:v>
                </c:pt>
                <c:pt idx="3">
                  <c:v>-0.4</c:v>
                </c:pt>
                <c:pt idx="4">
                  <c:v>-0.49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예금</c:v>
                </c:pt>
              </c:strCache>
            </c:strRef>
          </c:tx>
          <c:spPr>
            <a:solidFill>
              <a:srgbClr val="2C7A7B"/>
            </a:solidFill>
            <a:ln w="28575" cap="flat">
              <a:solidFill>
                <a:srgbClr val="2C7A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7B"/>
              </a:solidFill>
              <a:ln w="9525" cap="flat">
                <a:solidFill>
                  <a:srgbClr val="2C7A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-0.11</c:v>
                </c:pt>
                <c:pt idx="1">
                  <c:v>-0.23</c:v>
                </c:pt>
                <c:pt idx="2">
                  <c:v>-0.38</c:v>
                </c:pt>
                <c:pt idx="3">
                  <c:v>-0.46</c:v>
                </c:pt>
                <c:pt idx="4">
                  <c:v>-0.5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예탁금</c:v>
                </c:pt>
              </c:strCache>
            </c:strRef>
          </c:tx>
          <c:spPr>
            <a:solidFill>
              <a:srgbClr val="B7791F"/>
            </a:solidFill>
            <a:ln w="28575" cap="flat">
              <a:solidFill>
                <a:srgbClr val="B779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7791F"/>
              </a:solidFill>
              <a:ln w="9525" cap="flat">
                <a:solidFill>
                  <a:srgbClr val="B779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3</c:v>
                  </c:pt>
                  <c:pt idx="2">
                    <c:v>6</c:v>
                  </c:pt>
                  <c:pt idx="3">
                    <c:v>9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-0.13</c:v>
                </c:pt>
                <c:pt idx="1">
                  <c:v>-0.39</c:v>
                </c:pt>
                <c:pt idx="2">
                  <c:v>-0.62</c:v>
                </c:pt>
                <c:pt idx="3">
                  <c:v>-0.73</c:v>
                </c:pt>
                <c:pt idx="4">
                  <c:v>-0.76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50" b="0" i="0" u="none" strike="noStrike">
                    <a:solidFill>
                      <a:srgbClr val="000000"/>
                    </a:solidFill>
                    <a:latin typeface="Calibri"/>
                  </a:rPr>
                  <a:t>시차(개월, 정책 선행)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데이터분석 및 활용 · 개인 프로젝트 결과 보고서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어조에 따른 시민 반응 분석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통화·재정정책 어조와 시민 검색·실현행동 반응의 국면 분석 (2016–2024)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543032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297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기법  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어조 분류 · 잠재국면 군집 · 구조적 단절 탐지 · 편상관 · 사건연구(event study) · 플랫폼 외적타당성 검증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단위  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패널 + 일별 사건연구 데이터 (2016-01 ~ 2024-12)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/ 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43000"/>
            <a:ext cx="107259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거시경제 이론(비교정태)은 정책이 작동하는 ‘방향’을 제시하지만, 시민이 그 정책에 어떤 ‘속도·경로’로 반응하는지, 또 그 반응을 사전에 예측해 활용할 수 있는지는 답하지 못한다. 본 연구는 한국은행·기획재정부의 정책 어조를 텍스트마이닝으로 수치화하고, 이를 시민의 검색(주의)·실현행동·언론보도·금융시장 데이터와 결합해 정책–시민 반응 구조를 실증한다.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연구가설    </a:t>
            </a:r>
            <a:pPr indent="0" marL="0">
              <a:buNone/>
            </a:pPr>
            <a:r>
              <a:rPr lang="en-US" sz="1250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H1. 정책기조(긴축/완화)의 변화가 시민 반응(검색)과 이론 정합적 공행성을 보이는가?   ·   H2. 동일 정책에서도 언론 보도논조에 따라 반응이 조절(moderation)되는가? (보조)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34290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118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자료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어조: 통화정책 결정문 77·금통위 의사록 77·기재부 재정문서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시민 반응: 네이버·구글·유튜브 검색지수, 빅카인즈 기사 27,497건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실측·통제: ECOS/KOSIS 거시변수, 금융시장(원/달러·KOSPI), 실현행동(가계대출·예금·주택가격·예탁금), 인구통계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3952" y="361188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절차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정책문서 어조 라벨링 (분류)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잠재국면 군집화 (메인 분석)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구조적 단절(이례 시점) 탐지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편상관·시차·사건연구로 반응구조 규명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플랫폼 교차검증·인구통계 세분화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도구 활용 내역 보고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/ 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51560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LLM(Claude)은 ‘보조 도구’로 활용하였다. 데이터 수집·정제 코드 구현, 디버깅, 시각화 등 반복·기술 작업의 효율화에 사용하였으며, 연구설계·방법론·해석 등 학술적 판단은 연구자 본인이 수행하였다. 역할 구분은 다음과 같다.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Claude(LLM) — 구현·보조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연구자 본인 — 판단·결정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수집·크롤링 코드 구현 및 오류 디버깅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연구가설(H1/H2)·분석 동기 설정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eKoNLPy 감성사전 시드 적용, 재정 어조사전 초안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어조 부호 체계 정의(긴축=+1 통일)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통계·군집·시각화 코드 작성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중첩 군집·사건연구·정보위계 설계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본문 재수집·전처리, 플랫폼·시장 수집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편상관·시차·일별화·교차검증 방향 지시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표·도표 산출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 해석·한계 판단 및 분석 전반의 의사결정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반복·구현은 도구로 효율화하되, 방법론적 의사결정과 학술적 판단의 주체는 연구자임을 명시한다.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기초 분석 결과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어조 지수 타당성 — 정책 사이클 재현 검증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본격 분석에 앞서 텍스트에서 산출한 어조 지수(tone index)가 실제 정책 흐름을 반영하는지 검증하였다. 4개 어조 축을 −1(완화)~+1(긴축)으로 산출해 연도별로 비교한 결과, 실제 금리·재정 정책 사이클과 정합적이었다.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240280"/>
          <a:ext cx="69494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680960" y="2240280"/>
            <a:ext cx="4050792" cy="3611880"/>
          </a:xfrm>
          <a:prstGeom prst="roundRect">
            <a:avLst>
              <a:gd name="adj" fmla="val 2025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4231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물가 어조: 2018·2022 금리 인상기에 긴축 정점, 2020 코로나 완화기에 음(−)으로 반전.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재정 어조: 2017–2021 확장 → 2023 건전화로 기조 전환.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텍스트 기반 어조가 실제 정책 사이클을 재현, 측정 타당성(measurement validity) 확보.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방법론·참고문헌: 중앙은행 어조 지수 측정(Apel &amp; Blix Grimaldi, Riksbank) · 매파–비둘기 척도(Hawkish-Dovish Index, Picault·Renault).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전처리 결과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어조 지수 산출 파이프라인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어조 지수는 [문장 분할 → 정책 축 태깅 → 방향 점수화 → 월별 집계] 4단계로 산출하였다. 수집·정제 과정의 주요 난점도 함께 해결하였다.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분할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형태소분석기 kiwipiepy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4408" y="2148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2240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47288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축 태깅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물가·성장·금융안정·재정 4축 배정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1616" y="2148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2240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54496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점수화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감성사전 기반 (P−N)/(P+N)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78824" y="21488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1704" y="2240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61704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집계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기조 지속 가정 LOCF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1274552" cy="2057400"/>
          </a:xfrm>
          <a:prstGeom prst="roundRect">
            <a:avLst>
              <a:gd name="adj" fmla="val 3556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31920"/>
            <a:ext cx="10725912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수집·정제 과정에서 해결한 주요 문제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어조 부호 통일: 긴축(+1)/완화·확장(−1) — Hawkish-Dovish 지수·eKoNLPy 표준 준용.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재수집: 한은·기재부 보도자료 본문이 첨부 PDF에 존재 → 목록이 아닌 PDF에서 본문 추출.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재정 어조: eKoNLPy(통화 전용)에 재정 어휘 부재 → 건전화/확장 자작 어조사전 별도 구축.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검색(월·일·플랫폼3)·거시·시장·기사 자료를 단일 월별 패널로 결합.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8978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방법론·참고문헌: 통화 어조 시드사전 eKoNLPy(박기영 외, 「의사록 텍스트마이닝」, 한국은행) · 방향 점수 net-tone=(P−N)/(P+N), 어조 부호 −1~+1.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마이닝 결과 ①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동조성(공행성) 분석 (H1) — 정책 긴축과 검색 반응의 이론 정합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긴축(+1) 시 각 검색지수가 이론상 가져야 할 부호(기대부호)를 설정하고, 실제 시차 교차상관과 비교하였다(초록=정합, 빨강=괴리). 거시변수 통제 후에도 관계가 유지되는지 편상관(partial correlation)으로 확인하였다.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7315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9264"/>
                <a:gridCol w="969264"/>
                <a:gridCol w="969264"/>
                <a:gridCol w="969264"/>
                <a:gridCol w="969264"/>
                <a:gridCol w="96926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부동산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물가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투자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물가(긴축)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C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8B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8B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9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B09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성장(긴축)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1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C8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9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금융안정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B2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84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AF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F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A98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재정(긴축)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3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1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6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4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AA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955280" y="2240280"/>
            <a:ext cx="3776472" cy="201168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388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거시 통제 효과 (이론 정합률)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183880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18388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금리·CPI·환율·KOSPI·실업률 통제 편상관 기준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448056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61772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검색은 대체로 정책기조와 이론 정합적으로 공행한다(통제 후 82%). 다만 긴축기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대출·부동산 검색만 이론과 역행(↑)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‘겉보기 역설’이 관측된다. 이론 정합률(82%)은 결과의 결론이 아니라, 괴리 지점과 반응 동학을 해석하기 위한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기준선(baseline)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이다 (→ 결과 설명).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5943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방법: 시차 순위상관(Spearman, lag 0–3 중 이론정합 최대) · 거시 통제는 순위 잔차화 편상관(금리·CPI·환율·KOSPI·실업률).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마이닝 결과 ②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잠재국면 군집 — 2단계 중첩 군집(계층군집 + K-평균) · t-SNE 사상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정책기조(어조 4축)로 1차 계층군집(Ward 연결), 각 기조 내 시민반응(검색 6축)으로 2차 K-평균을 적용하는 중첩 군집으로 잠재국면을 도출하였다. 군집수는 실루엣 계수로 선택(1단계 K=2, 실루엣 0.40), 고차원 군집은 t-SNE(perplexity≈min(30,n/4))로 2차원 사상하여 분리도를 확인하였다.</a:t>
            </a:r>
            <a:endParaRPr lang="en-US" sz="1250" dirty="0"/>
          </a:p>
        </p:txBody>
      </p:sp>
      <p:pic>
        <p:nvPicPr>
          <p:cNvPr id="9" name="Image 0" descr="/sessions/laughing-zen-allen/mnt/정책 어조에 따른 시민 반응 분석 프로젝트/processed/figures/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4114800" cy="3383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5669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2차원 사상 (축은 비해석적, 군집 분리도만 표시)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240280"/>
          <a:ext cx="6812280" cy="3429000"/>
        </p:xfrm>
        <a:graphic>
          <a:graphicData uri="http://schemas.openxmlformats.org/drawingml/2006/table">
            <a:tbl>
              <a:tblPr/>
              <a:tblGrid>
                <a:gridCol w="822960"/>
                <a:gridCol w="1143000"/>
                <a:gridCol w="1097280"/>
                <a:gridCol w="54864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기준금리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국면 특징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’22–’24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고금리 고착 · 부동산·대출 반발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’21–’22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긴축 전환 · 부동산 광풍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’17–’19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완만 긴축 · 확장재정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’16–’20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저금리 · 부동산 과열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4F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’20–’21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코로나 완화 · 레버리지 확대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AA3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대외충격(외환) 전이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방법: 1단계 Ward 계층군집 K=2(실루엣 0.40), 2단계 K-평균(실루엣 0.39–0.45), t-SNE perplexity≈min(30,n/4). 거시·괴리는 군집 피처가 아닌 사후 프로파일링에만 사용(순환논리 방지) — 국면은 자료에서 발견된 유형.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마이닝 결과 ③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단절(structural break) 탐지 — 이론 괴리 z-점수 + 국소 이상치 계수(LOF)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정책–시민 공행 관계가 기존 구조에서 이탈한 시점을 두 지표로 탐지하였다.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이론 괴리 지수 z(D):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기대부호와 표준화 변수의 곱으로 정의한 이론 위반량을 표준화, |z|&gt;2σ를 이례치로 식별. 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국소 이상치 계수(LOF):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어조 4축+검색 6축 다변량 공간의 국소 밀도 기반 이상도. 탐지된 이례 시점을 외생충격과 대응시켰다.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822960"/>
                <a:gridCol w="5486400"/>
                <a:gridCol w="267919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z(D)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외생충격 / 주도 채널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코로나 팬데믹 — 외환 급등·긴급 완화 동시충격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구조적 단절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정치적 불확실성(비상계엄) — 원/달러 급등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구조적 단절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미·중 무역분쟁 · 디스인플레이션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구조적 단절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신용경색(레고랜드) · 부동산 경착륙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구조적 단절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 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재정 어조 표본 희소(MOEF 문서 부족)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측정오차(아티팩트)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방법: z(D)=Σ max(−E·z(어조)·z(검색),0), 임계 |z|&gt;2σ · LOF n_neighbors=min(20,max(5,n/6)), 피처 z(어조4+검색6) [Breunig 외, LOF]. ‘구조적 단절 vs 측정오차’ 구분으로 해석 정직성 확보.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마이닝 결과 ④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사건연구(event study) — 정책 결정 직후 주의(검색)의 즉각 반응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금통위 결정일 77건을 사건일(t=0)로 정렬하고, 결정 전후 일별 검색을 직전 10일 평균=100으로 지수화해 평균하였다(요일효과는 7일 중심이동평균으로 제거). 정책 직후 시민 ‘주의(attention)’의 반응 속도를 일별 해상도로 식별한다.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286000"/>
          <a:ext cx="68580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680960" y="2286000"/>
            <a:ext cx="4050792" cy="3520440"/>
          </a:xfrm>
          <a:prstGeom prst="roundRect">
            <a:avLst>
              <a:gd name="adj" fmla="val 2078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4688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예금 검색은 사건 직후 1주 +17%(매파 결정 시 +25%) 급등 후 2주 내 정상화 — 주의는 즉각·일시적.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물가·대출 검색은 일별 기사량이 약 4일 선행(시차 교차상관 ρ=0.24/0.15) — 시민은 정책에 직접보다 보도를 매개로 반응.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비교정태가 다루지 않는 ‘반응의 속도·전달경로’를 일별 자료로 규명.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방법: 추정창 [−10,+30]일, 기준창=직전 10일 평균, 요일효과 7일 중심이동평균 제거 · 시장 사건연구 [−5,+5] · 정책→보도 전이는 시차 교차상관 [MacKinlay, Event Studies in Economics and Finance].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마이닝 결과 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외적 타당성 — 검색 플랫폼 교차검증(네이버·구글·유튜브)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플랫폼(네이버) 결과의 우연성을 배제하기 위해, 동일 검색어를 구글·유튜브(Google Trends YouTube 검색 속성)로도 수집해 비교하였다. 검색어는 모두 한국어·한국(geo=KR) 기준이다.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6858000" cy="32918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검색축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네이버~구글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네이버~유튜브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긴축→네이버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긴축→구글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물가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부동산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투자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80960" y="2148840"/>
            <a:ext cx="4050792" cy="3291840"/>
          </a:xfrm>
          <a:prstGeom prst="roundRect">
            <a:avLst>
              <a:gd name="adj" fmla="val 2222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33172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예금·환율·대출은 네이버~구글 순위상관 0.82~0.91 — 플랫폼 간 주의 신호 일치.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‘긴축→검색’ 부호가 구글에서도 동일(예금·물가는 오히려 강화) — 핵심 결과 재현.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부동산·투자는 플랫폼 간 이질성 존재(채널 특이성).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단일 자료의 우연이 아닌 외적 타당성(external validity) 확보.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57150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참고문헌: 검색량을 시민 ‘주의’의 대리변수로 사용(OECD·Google Trends 경제활동 추적 연구) · 보도 논조 채널(Lamla &amp; Lein, 「미디어와 소비자 인플레 기대」).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설명 ①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11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주의–행동의 시차 분리 — 검색(attention) ≠ 실현행동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마이닝 결과를 종합하면, 시민의 ‘주의(검색)’와 ‘실현행동(주택가격·가계대출 등)’은 정책에 상이한 속도로 반응한다. 아래는 긴축 어조와 실현행동 증가율의 시차 교차상관으로, 음(−)일수록 이론 정합(긴축 후 둔화·하락)을 뜻한다.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286000"/>
          <a:ext cx="68580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680960" y="2286000"/>
            <a:ext cx="4050792" cy="3520440"/>
          </a:xfrm>
          <a:prstGeom prst="roundRect">
            <a:avLst>
              <a:gd name="adj" fmla="val 2078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4688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주의(검색)</a:t>
            </a:r>
            <a:endParaRPr lang="en-US" sz="11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직후 수일 내 즉각 상승(사건연구) — 불안·정보탐색 성격.</a:t>
            </a:r>
            <a:endParaRPr lang="en-US" sz="11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6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실현행동(주택가격·대출)</a:t>
            </a:r>
            <a:endParaRPr lang="en-US" sz="11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6–12개월 시차로 이론대로 둔화·하락(상관 음전환).</a:t>
            </a:r>
            <a:endParaRPr lang="en-US" sz="11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6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긴축기 대출·부동산 검색 증가의 ‘겉보기 역설’은 빠른 주의와 느린 행동의 시간 분리로 설명된다.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설명 ②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반응 속도의 위계 — 시장(선반영)·주의·행동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 주체를 금융시장·시민 주의·시민 행동으로 구분하면, 정책 충격이 거시→미시로 ‘속도의 위계’를 따라 전달된다. 시장 사건연구에서 결정일 비정상 변동이 관측되지 않은 것은, 정기 결정이 대체로 예견되어 시장이 사전 반영(price discovery)했기 때문이다.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7455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828800"/>
                <a:gridCol w="606247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반응 계층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반응 속도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 / 근거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금융시장 (환율·KOSPI)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즉시 · 선반영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결정일 비정상 변동 미관측. 정기 결정 예견 → 정보 효율적 사전 반영(환율 |Δ| 0.34% ≈ 평소).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시민 주의 (검색)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결정 직후 1주 예금 +17%(매파 시 +25%), 며칠 내 급등 후 정상화.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시민 행동 (주택가격·대출)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수개월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6–12개월 시차로 이론 정합적 둔화·하락. 최후행 계층.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9834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9834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시장은 정책을 선반영하고, 일반 시민은 사후에 주의를 보이며, 실현행동은 가장 느리게 따라온다. ‘시민이 정책을 따른다’는 사실의 확인이 아니라, 누가·언제·어떤 경로로 반응하는지의 구조가 본 연구의 발견이다.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활용방안 제시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13 / 14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타이밍 × 인구통계 타겟 — 금융상품 마케팅 의사결정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결과는 금융기관 상품 마케팅 의사결정에 활용 가능하다. (좌) 정책기조별 사건 직후 검색 리프트로 ‘마케팅 적기’를, (우) 인구통계 세분화로 ‘타겟 연령’을 도출한다.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결정 직후 1주 검색 리프트 (%)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42032"/>
          <a:ext cx="5486400" cy="233172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0116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매파(긴축) 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비둘기(완화) 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물가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투자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02920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5029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매파 결정 직후 = 예·적금, 비둘기 직후 = 대출 상품 마케팅 적기.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연령별 평균 검색지수 (타겟 도출)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542032"/>
          <a:ext cx="5468112" cy="1920240"/>
        </p:xfrm>
        <a:graphic>
          <a:graphicData uri="http://schemas.openxmlformats.org/drawingml/2006/table">
            <a:tbl>
              <a:tblPr/>
              <a:tblGrid>
                <a:gridCol w="1078992"/>
                <a:gridCol w="1554480"/>
                <a:gridCol w="146304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청년 19-34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중년 35-54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장년 55+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부동산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물가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263640" y="4617720"/>
            <a:ext cx="5468112" cy="128016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46177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금융 관심의 주역은 청년층(19-34). ‘긴축기 예금 관심 급증’의 핵심 타겟은 청년.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84124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988552" y="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FE0F0"/>
                </a:solidFill>
              </a:rPr>
              <a:t>정책 어조에 따른 시민 반응 분석</a:t>
            </a:r>
            <a:endParaRPr lang="en-US" sz="105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14 / 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51560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연구는 정책 어조를 수치화하고 시민의 검색·실현행동·보도·시장 자료와 결합하여 정책–시민 반응 구조를 다중 기법으로 분석하였다. ‘정책대로 시민이 움직인다’는 방향의 확인을 넘어, 비교정태가 비워둔 ‘속도·순서·주체·이탈’을 자료로 규명한 점이 기여이다.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107259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발견</a:t>
            </a:r>
            <a:endParaRPr lang="en-US" sz="12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주의는 정책 직후 수일 내 즉각, 실현행동은 6–12개월 시차로 반응 — 검색 ≠ 행동의 시간 분리.</a:t>
            </a:r>
            <a:endParaRPr lang="en-US" sz="12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속도의 위계: 시장 선반영 → 시민 주의(사후) → 실현행동(최후). 시민은 보도를 매개로(약 4일 선행) 반응.</a:t>
            </a:r>
            <a:endParaRPr lang="en-US" sz="12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정책–시민 관계를 6개 잠재국면으로 유형화, 이론 이탈 시점은 외생충격으로 해석. 네이버·구글·유튜브에서 재현.</a:t>
            </a:r>
            <a:endParaRPr lang="en-US" sz="12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활용: 매파 직후 예·적금, 비둘기 직후 대출, 타겟 청년층 — 분석을 의사결정 도구로 전환.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F2F4F7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80560"/>
            <a:ext cx="107259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연구의 한계 및 향후 과제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검색은 ‘주의’의 대리변수로 실제 수요와 상이할 수 있으며, 가계대출은 총대출금 대용치 사용. 정기 결정의 시장 무반응은 정책 서프라이즈를 분리하지 못한 데 기인. 표본 108개월의 탐색적 사례연구로 포지셔닝.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33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향후: 정책 서프라이즈 분리, 순수 가계대출·주택 거래량 결합, 어조 라벨 골든셋 검증, 보도 본문 기반 프레이밍 분석.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n=108개월의 탐색적 사례연구로 포지셔닝(순위기반·robust 기법 우선, 유의성 병기). 전체 방법론·출처는 프로젝트 METHODOLOGY.md·REFERENCES.md 참조.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정책 어조에 따른 시민 반응 분석</dc:title>
  <dc:subject>PptxGenJS Presentation</dc:subject>
  <dc:creator>PptxGenJS</dc:creator>
  <cp:lastModifiedBy>PptxGenJS</cp:lastModifiedBy>
  <cp:revision>1</cp:revision>
  <dcterms:created xsi:type="dcterms:W3CDTF">2026-06-19T04:34:24Z</dcterms:created>
  <dcterms:modified xsi:type="dcterms:W3CDTF">2026-06-19T04:34:24Z</dcterms:modified>
</cp:coreProperties>
</file>